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45"/>
  </p:notesMasterIdLst>
  <p:sldIdLst>
    <p:sldId id="256" r:id="rId3"/>
    <p:sldId id="266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300" r:id="rId22"/>
    <p:sldId id="274" r:id="rId23"/>
    <p:sldId id="301" r:id="rId24"/>
    <p:sldId id="276" r:id="rId25"/>
    <p:sldId id="289" r:id="rId26"/>
    <p:sldId id="290" r:id="rId27"/>
    <p:sldId id="291" r:id="rId28"/>
    <p:sldId id="292" r:id="rId29"/>
    <p:sldId id="293" r:id="rId30"/>
    <p:sldId id="294" r:id="rId31"/>
    <p:sldId id="302" r:id="rId32"/>
    <p:sldId id="280" r:id="rId33"/>
    <p:sldId id="281" r:id="rId34"/>
    <p:sldId id="282" r:id="rId35"/>
    <p:sldId id="283" r:id="rId36"/>
    <p:sldId id="296" r:id="rId37"/>
    <p:sldId id="297" r:id="rId38"/>
    <p:sldId id="298" r:id="rId39"/>
    <p:sldId id="285" r:id="rId40"/>
    <p:sldId id="287" r:id="rId41"/>
    <p:sldId id="306" r:id="rId42"/>
    <p:sldId id="303" r:id="rId43"/>
    <p:sldId id="28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 %</c:v>
                </c:pt>
              </c:strCache>
            </c:strRef>
          </c:tx>
          <c:spPr>
            <a:solidFill>
              <a:srgbClr val="00304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3E5-4CC2-BDE7-AB28E0C751FA}"/>
              </c:ext>
            </c:extLst>
          </c:dPt>
          <c:dPt>
            <c:idx val="1"/>
            <c:invertIfNegative val="0"/>
            <c:bubble3D val="0"/>
            <c:spPr>
              <a:solidFill>
                <a:srgbClr val="F7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73E5-4CC2-BDE7-AB28E0C751FA}"/>
              </c:ext>
            </c:extLst>
          </c:dPt>
          <c:dPt>
            <c:idx val="2"/>
            <c:invertIfNegative val="0"/>
            <c:bubble3D val="0"/>
            <c:spPr>
              <a:solidFill>
                <a:srgbClr val="0A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73E5-4CC2-BDE7-AB28E0C751FA}"/>
              </c:ext>
            </c:extLst>
          </c:dPt>
          <c:dPt>
            <c:idx val="3"/>
            <c:invertIfNegative val="0"/>
            <c:bubble3D val="0"/>
            <c:spPr>
              <a:solidFill>
                <a:srgbClr val="C96A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73E5-4CC2-BDE7-AB28E0C751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3049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Affordable Prices</c:v>
                </c:pt>
                <c:pt idx="1">
                  <c:v>Trust &amp; Verification</c:v>
                </c:pt>
                <c:pt idx="2">
                  <c:v>Ease of Use</c:v>
                </c:pt>
                <c:pt idx="3">
                  <c:v>Ratings &amp; Reviews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45</c:v>
                </c:pt>
                <c:pt idx="2">
                  <c:v>32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3E5-4CC2-BDE7-AB28E0C751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e36b7aa8-febe-4fbe-9e3f-d84ed9b48ad4}"/>
      </c:ext>
    </c:extLst>
  </c:chart>
  <c:spPr>
    <a:solidFill>
      <a:srgbClr val="F7F5F0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2125141" y="0"/>
            <a:ext cx="54864" cy="685800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1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993392"/>
            <a:ext cx="71323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ReOwned</a:t>
            </a:r>
            <a:endParaRPr lang="en-US" sz="8800" dirty="0"/>
          </a:p>
        </p:txBody>
      </p:sp>
      <p:sp>
        <p:nvSpPr>
          <p:cNvPr id="8" name="Text 4"/>
          <p:cNvSpPr/>
          <p:nvPr/>
        </p:nvSpPr>
        <p:spPr>
          <a:xfrm>
            <a:off x="502920" y="3456432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Egypt's Circular Marketplace for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Buying, Selling &amp; Renting Pre-Owned Items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" y="4389120"/>
            <a:ext cx="6858000" cy="36576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02920" y="457200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FEEDD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457200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6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920240" y="457200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E8EFF5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920240" y="457200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37560" y="457200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E8EFF5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337560" y="457200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457200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FEEDD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54880" y="457200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6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Mission, Vision &amp; Platform Concept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7315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ReOwned?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8046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unified circular economy platform for Egypt &amp; the Middle East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261872"/>
            <a:ext cx="7132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ReOwned connects people who want to monetize their used items with those looking for verified, affordable alternatives to buying new — all in one trusted platform.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121408"/>
            <a:ext cx="2743200" cy="24688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22311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" y="2761488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0936" y="3145536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 verified pre-owned items from trusted, ID-checked sellers with buyer protection and COD support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2121408"/>
            <a:ext cx="2743200" cy="24688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29000" y="22311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520440" y="2761488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557016" y="3145536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Borrow items for any duration with digital contracts, escrow deposits and pre/post condition inspection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55080" y="2121408"/>
            <a:ext cx="2743200" cy="24688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22311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🏷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446520" y="2761488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83096" y="3145536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 items in minutes with a guided flow, smart pricing suggestions and full seller analytics dashboard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281160" y="2121408"/>
            <a:ext cx="2743200" cy="24688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281160" y="22311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372600" y="2761488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Lend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409176" y="3145536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idle assets into passive income — set your own terms, approve verified renters, get paid automatically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4736592"/>
            <a:ext cx="2743200" cy="4572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51389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Verification, deposits, inspection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429000" y="4736592"/>
            <a:ext cx="2743200" cy="4572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29000" y="4828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429000" y="51389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grading, real reviews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55080" y="4736592"/>
            <a:ext cx="2743200" cy="4572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55080" y="4828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55080" y="51389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Dispute resolution, escrow holds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281160" y="4736592"/>
            <a:ext cx="2743200" cy="4572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281160" y="4828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281160" y="51389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Circular economy, reduce waste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walkthrough from research to final UI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8872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18872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7512" y="128016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52728" y="12801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 &amp; Stakeholder Research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52728" y="166420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Quantitative survey questions, results &amp; qualitative interviews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28600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" y="237744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52728" y="23774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SWOT &amp; Competitor Analysis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52728" y="276148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assessment and market positioning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38328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2920" y="338328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7512" y="347472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52728" y="347472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 &amp; Vision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52728" y="385876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ReOwned is, what it solves, and who it's for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448056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920" y="448056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7512" y="45720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52728" y="45720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Personas &amp; Empathy Maps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52728" y="495604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detailed personas, empathy quadrants and research insights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557784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2920" y="557784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7512" y="566928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252728" y="566928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Journey Maps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52728" y="605332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emotional journeys — Buyer/Renter &amp; Seller/Lender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63640" y="118872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263640" y="118872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28232" y="128016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013448" y="12801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Architecture &amp; Flows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13448" y="166420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 hierarchy and all 4 user flows from entry to complete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63640" y="228600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263640" y="228600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28232" y="237744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013448" y="23774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013448" y="276148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Low-fidelity wireframes for all 19 mobile screens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263640" y="338328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263640" y="338328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428232" y="347472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013448" y="347472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Identity &amp; Design System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013448" y="385876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Colors (60-30-10), typography, components and logo story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263640" y="4480560"/>
            <a:ext cx="5486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263640" y="448056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428232" y="45720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013448" y="45720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High-Fidelity UI Screens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013448" y="495604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mobile UI designs across all key flows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Research · Survey &amp; Stakeholder Interviews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Our Users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 Questions — Quantitative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closed-ended questions distributed to target users across Egypt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70432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170432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7512" y="1261872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52728" y="124358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do you trust online platforms for buying or renting second-hand devices?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52728" y="18288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Scale: Fully Trust → Neutral → Don't Trust at All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2523744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" y="2615184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52728" y="2596896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you ever faced problems when buying or renting second-hand devices?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252728" y="318211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Options: Yes · No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877056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2920" y="3877056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7512" y="3968496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52728" y="3950208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important is it to have a pre/post inspection system to verify item condition?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52728" y="4535424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Scale: Not Important → Important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5230368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920" y="5230368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7512" y="5321808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52728" y="53035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have an unused device, how likely are you to rent it out instead of selling?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252728" y="588873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Options: Likely · Maybe · Never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63640" y="1170432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63640" y="1170432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28232" y="1261872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013448" y="124358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important is price and rental duration transparency in your decision?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013448" y="18288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Scale: Not Important → Important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63640" y="2523744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263640" y="2523744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28232" y="2615184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13448" y="2596896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do user reviews and ratings help you build trust in a platform?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013448" y="318211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Options: Helpful · Moderately · Not at All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263640" y="3877056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263640" y="3877056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28232" y="3968496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Q7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013448" y="3950208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testing the platform, how likely are you to use ReOwned again?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013448" y="4535424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Options: Likely · Maybe · Not Likely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263640" y="5230368"/>
            <a:ext cx="5486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263640" y="5230368"/>
            <a:ext cx="45720" cy="120700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428232" y="5321808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Q8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013448" y="53035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would be your main reason for using the platform?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013448" y="588873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Options: Affordable prices · Trust &amp; verification · Ease of use · Reviews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 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data revealed about user trust barriers and platform needs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43000"/>
            <a:ext cx="2651760" cy="2011680"/>
          </a:xfrm>
          <a:prstGeom prst="rect">
            <a:avLst/>
          </a:prstGeom>
          <a:solidFill>
            <a:srgbClr val="00304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2651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Fully Trust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" y="2450592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second-hand platforms — trust is the #1 barrier to adoption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55848" y="1143000"/>
            <a:ext cx="2651760" cy="2011680"/>
          </a:xfrm>
          <a:prstGeom prst="rect">
            <a:avLst/>
          </a:prstGeom>
          <a:solidFill>
            <a:srgbClr val="F77F0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55848" y="1234440"/>
            <a:ext cx="2651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3447288" y="2103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Inspection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65576" y="2450592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E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said pre/post inspection is important before any transaction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08776" y="1143000"/>
            <a:ext cx="2651760" cy="2011680"/>
          </a:xfrm>
          <a:prstGeom prst="rect">
            <a:avLst/>
          </a:prstGeom>
          <a:solidFill>
            <a:srgbClr val="00304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08776" y="1234440"/>
            <a:ext cx="2651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3in4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6300216" y="2103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Idle Items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18504" y="2450592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worth EGP 500+ sitting unused at home — huge supply potential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061704" y="1143000"/>
            <a:ext cx="2651760" cy="2011680"/>
          </a:xfrm>
          <a:prstGeom prst="rect">
            <a:avLst/>
          </a:prstGeom>
          <a:solidFill>
            <a:srgbClr val="F77F0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061704" y="1234440"/>
            <a:ext cx="2651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71%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9153144" y="2103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Would Return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71432" y="2450592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E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said they'd use ReOwned again after seeing the verified workflow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331012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Reasons Users Would Choose ReOwned</a:t>
            </a:r>
            <a:endParaRPr lang="en-US" sz="13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502920" y="3657600"/>
          <a:ext cx="11155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Qualitative Research — Interview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Open-ended questions that revealed deep user motivations, fears and needs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70432"/>
            <a:ext cx="11155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170432"/>
            <a:ext cx="45720" cy="1024128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243584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concerns you most when buying second-hand items?"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166420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Users cited fear of hidden defects, no recourse after purchase, and being unable to verify item condition as their three biggest concerns.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286000"/>
            <a:ext cx="11155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2286000"/>
            <a:ext cx="45720" cy="1024128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359152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would make you trust a rental platform?"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2779776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ID verification for all users, secure deposits, clear photos from multiple angles, verified badges, and a dispute resolution center.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401568"/>
            <a:ext cx="11155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2920" y="3401568"/>
            <a:ext cx="45720" cy="1024128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3474720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"Why would you choose renting over buying?"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3895344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Cost savings for temporary needs, trying before buying, avoiding depreciation on expensive items, and not needing to store it after.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517136"/>
            <a:ext cx="11155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4517136"/>
            <a:ext cx="45720" cy="1024128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4590288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features would make you use ReOwned regularly?"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" y="5010912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Pre-inspection workflow, standardized condition grading, COD payment option, in-app chat, and clear return / damage policies.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5632704"/>
            <a:ext cx="11155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920" y="5632704"/>
            <a:ext cx="45720" cy="1024128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5705856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improvements would you suggest for second-hand platforms?"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85800" y="61264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More photo angles required, video demos, honest condition reports with grading standards, and better search filters by location.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 Interview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structured questions that defined the platform goals, constraints and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43000"/>
            <a:ext cx="3657600" cy="38404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430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&amp; Business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636776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What is the main goal — selling only, or selling and renting?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295144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2331720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What problem does this solve that others don't?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990088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3026664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What makes ReOwned different from competitors?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3685032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3721608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Will there be a commission from sales?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4379976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4416552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How will rental prices be determined?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5074920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5111496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Will there be a security deposit for renting?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5769864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5806440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How will fraud or complaints be handled?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1688" y="1143000"/>
            <a:ext cx="3657600" cy="38404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61688" y="11430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&amp; Access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61688" y="1600200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453128" y="1636776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Who is the primary target audience?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61688" y="2295144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53128" y="2331720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What user types will the system have?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361688" y="2990088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453128" y="3026664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What information is required during registration?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361688" y="3685032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453128" y="3721608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Will user identity verification be required?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61688" y="4379976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453128" y="4416552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Should there be a rating and review system?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361688" y="5074920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453128" y="5111496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Will there be a return or cancellation policy?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361688" y="5769864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453128" y="5806440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What usage rules should be applied?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220456" y="1143000"/>
            <a:ext cx="3657600" cy="38404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220456" y="11430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&amp; Features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220456" y="1600200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311896" y="1636776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What types of items will be listed?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0456" y="2295144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311896" y="2331720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Are there conditions for accepting used items?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220456" y="2990088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311896" y="3026664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Will items be inspected before listing?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220456" y="3685032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311896" y="3721608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Can users upload their own items for rent?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220456" y="4379976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311896" y="4416552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What payment methods will be available?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220456" y="5074920"/>
            <a:ext cx="3657600" cy="621792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311896" y="5111496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Should there be a chat system between users?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8220456" y="5769864"/>
            <a:ext cx="36576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8311896" y="5806440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Should there be order and rental tracking?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SWOT &amp; Competitor Analysis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strategic assessment of ReOwned's market position in Egypt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15568"/>
            <a:ext cx="5486400" cy="2578608"/>
          </a:xfrm>
          <a:prstGeom prst="rect">
            <a:avLst/>
          </a:prstGeom>
          <a:solidFill>
            <a:srgbClr val="00304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225296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7512" y="122529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7512" y="1591056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Only platform combining Buy AND Rent in one experience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7512" y="1929384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ID verification &amp; escrow deposits build real trust infrastructure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" y="226771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COD support — designed for Egypt's cash-first economy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7512" y="260604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Digital rental contracts — legal clarity for both parties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" y="2944368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Pre/post inspection workflow reduces disputes significantly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" y="3282696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4 distinct role-based flows tailored to each user type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3640" y="1115568"/>
            <a:ext cx="5486400" cy="2578608"/>
          </a:xfrm>
          <a:prstGeom prst="rect">
            <a:avLst/>
          </a:prstGeom>
          <a:solidFill>
            <a:srgbClr val="C0392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28232" y="1225296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28232" y="122529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WEAKNESSES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28232" y="1591056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New platform — cold-start: no users means no listings initially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28232" y="1929384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Complex dual-mode UX increases onboarding friction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28232" y="226771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Requires significant trust investment before wide adoption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28232" y="260604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ID verification adds steps compared to competitors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28232" y="2944368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Relies on user-generated content for quality signals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28232" y="3282696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No brand recognition vs. established OLX or Facebook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3840480"/>
            <a:ext cx="5486400" cy="2578608"/>
          </a:xfrm>
          <a:prstGeom prst="rect">
            <a:avLst/>
          </a:prstGeom>
          <a:solidFill>
            <a:srgbClr val="F77F0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7512" y="395020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7512" y="395020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OPPORTUNITIES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67512" y="4315968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EGP devaluation is driving demand for affordable alternatives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67512" y="4654296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No dominant verified P2P rental platform in Egypt/MENA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67512" y="4992624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Growing sustainability and circular economy awareness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67512" y="533095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University students are a huge underserved renter market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67512" y="566928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Rising gig economy — freelancers need a professional resale 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67512" y="6007608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Middle East expansion — same trust gap exists region-wide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63640" y="3840480"/>
            <a:ext cx="5486400" cy="2578608"/>
          </a:xfrm>
          <a:prstGeom prst="rect">
            <a:avLst/>
          </a:prstGeom>
          <a:solidFill>
            <a:srgbClr val="4A5568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428232" y="395020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428232" y="395020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428232" y="4315968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OLX Egypt has massive existing user base and brand trust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28232" y="4654296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Facebook Marketplace is free and deeply embedded in Egypt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28232" y="4992624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User skepticism about new platforms is very high (78% survey)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28232" y="533095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Regulatory uncertainty around P2P digital contracts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28232" y="566928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Payment infrastructure gaps — digital wallets not universal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28232" y="6007608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Competitors could add rental features before ReOwned scales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ReOwned compares against existing platforms — and where the gap 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02920" y="1115568"/>
          <a:ext cx="10789920" cy="539496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OLX Egypt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Facebook Marketplace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Dubizzle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ReOwned ✓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Buy &amp; Rent in one platform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 Verification system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Escrow deposit protection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Pre/Post inspection workflow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Digital rental contracts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Built-in dispute resolution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COD payment support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Seller analytics dashboard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Trust &amp; verified badges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✕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Mobile-first design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7F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Personas · Empathy Maps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Research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Personas — All Four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Research-validated personas representing every side of the ReOwned marketplace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15568"/>
            <a:ext cx="27432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115568"/>
            <a:ext cx="2743200" cy="54864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453896" y="1261872"/>
            <a:ext cx="841248" cy="841248"/>
          </a:xfrm>
          <a:prstGeom prst="ellipse">
            <a:avLst/>
          </a:prstGeom>
          <a:solidFill>
            <a:srgbClr val="003049">
              <a:alpha val="8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53896" y="1261872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LH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2128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Layla Hassan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97280" y="2578608"/>
            <a:ext cx="1554480" cy="237744"/>
          </a:xfrm>
          <a:prstGeom prst="roundRect">
            <a:avLst>
              <a:gd name="adj" fmla="val 23077"/>
            </a:avLst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2578608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Buyer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288950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 · Cairo · Marketing Coordinator · EGP 8,000/mo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" y="3218688"/>
            <a:ext cx="2468880" cy="502920"/>
          </a:xfrm>
          <a:prstGeom prst="rect">
            <a:avLst/>
          </a:prstGeom>
          <a:solidFill>
            <a:srgbClr val="003049">
              <a:alpha val="12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323697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 want good quality items without paying full price."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380390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080" y="40599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Verified sellers with honest photos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43525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COD payment, flexible refunds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" y="4645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Authentic brands at lower prices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0080" y="495604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0080" y="52120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Fear of hidden defects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" y="55046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Fake listings / profiles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" y="57972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Shipping delays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29000" y="1115568"/>
            <a:ext cx="27432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429000" y="1115568"/>
            <a:ext cx="274320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379976" y="1261872"/>
            <a:ext cx="841248" cy="841248"/>
          </a:xfrm>
          <a:prstGeom prst="ellipse">
            <a:avLst/>
          </a:prstGeom>
          <a:solidFill>
            <a:srgbClr val="F77F00">
              <a:alpha val="8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379976" y="1261872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520440" y="22128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Karim Mansour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023360" y="2578608"/>
            <a:ext cx="1554480" cy="237744"/>
          </a:xfrm>
          <a:prstGeom prst="roundRect">
            <a:avLst>
              <a:gd name="adj" fmla="val 23077"/>
            </a:avLst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023360" y="2578608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Seller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520440" y="288950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 · Alexandria · Freelance Photographer · EGP 15,000/mo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566160" y="3218688"/>
            <a:ext cx="2468880" cy="502920"/>
          </a:xfrm>
          <a:prstGeom prst="rect">
            <a:avLst/>
          </a:prstGeom>
          <a:solidFill>
            <a:srgbClr val="F77F00">
              <a:alpha val="12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611880" y="323697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"ReOwned turns my unused gear into cash — fast."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566160" y="380390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566160" y="40599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Fast listing with minimal effort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566160" y="43525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Serious buyers only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3566160" y="4645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Transparent commission rates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566160" y="495604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566160" y="52120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No-show buyers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566160" y="55046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Lowball offers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566160" y="57972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Complex listing processes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355080" y="1115568"/>
            <a:ext cx="27432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355080" y="1115568"/>
            <a:ext cx="2743200" cy="54864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306056" y="1261872"/>
            <a:ext cx="841248" cy="841248"/>
          </a:xfrm>
          <a:prstGeom prst="ellipse">
            <a:avLst/>
          </a:prstGeom>
          <a:solidFill>
            <a:srgbClr val="27AE60">
              <a:alpha val="8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306056" y="1261872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446520" y="22128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Sara El-Masry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6949440" y="2578608"/>
            <a:ext cx="155448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949440" y="2578608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Renter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446520" y="288950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· Giza · Architecture Student · EGP 2,500/mo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492240" y="3218688"/>
            <a:ext cx="2468880" cy="502920"/>
          </a:xfrm>
          <a:prstGeom prst="rect">
            <a:avLst/>
          </a:prstGeom>
          <a:solidFill>
            <a:srgbClr val="27AE60">
              <a:alpha val="12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537960" y="323697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"Why buy something I'll only use once?"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492240" y="380390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492240" y="40599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Short-term affordable access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492240" y="43525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Clear deposit &amp; rental terms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492240" y="4645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Digital contract for security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6492240" y="495604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492240" y="52120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Hidden fees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492240" y="55046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Unreasonably high deposits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6492240" y="57972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No dispute mediator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281160" y="1115568"/>
            <a:ext cx="27432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9281160" y="1115568"/>
            <a:ext cx="2743200" cy="54864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10232136" y="1261872"/>
            <a:ext cx="841248" cy="841248"/>
          </a:xfrm>
          <a:prstGeom prst="ellipse">
            <a:avLst/>
          </a:prstGeom>
          <a:solidFill>
            <a:srgbClr val="8E44AD">
              <a:alpha val="8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10232136" y="1261872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</a:t>
            </a:r>
            <a:endParaRPr lang="en-US" sz="2000" dirty="0"/>
          </a:p>
        </p:txBody>
      </p:sp>
      <p:sp>
        <p:nvSpPr>
          <p:cNvPr id="64" name="Text 61"/>
          <p:cNvSpPr/>
          <p:nvPr/>
        </p:nvSpPr>
        <p:spPr>
          <a:xfrm>
            <a:off x="9372600" y="22128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Ahmed Nour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9875520" y="2578608"/>
            <a:ext cx="1554480" cy="237744"/>
          </a:xfrm>
          <a:prstGeom prst="roundRect">
            <a:avLst>
              <a:gd name="adj" fmla="val 23077"/>
            </a:avLst>
          </a:prstGeom>
          <a:solidFill>
            <a:srgbClr val="8E44AD"/>
          </a:solidFill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9875520" y="2578608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Lender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9372600" y="288950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 · New Cairo · Civil Engineer · EGP 25,000/mo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9418320" y="3218688"/>
            <a:ext cx="2468880" cy="502920"/>
          </a:xfrm>
          <a:prstGeom prst="rect">
            <a:avLst/>
          </a:prstGeom>
          <a:solidFill>
            <a:srgbClr val="8E44AD">
              <a:alpha val="12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9464040" y="323697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"My tools sit idle — why not earn from that?"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9418320" y="380390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9418320" y="40599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Passive income from idle assets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9418320" y="43525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ID-verified renters only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9418320" y="4645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Damage protection &amp; auto-payment</a:t>
            </a:r>
            <a:endParaRPr lang="en-US" sz="950" dirty="0"/>
          </a:p>
        </p:txBody>
      </p:sp>
      <p:sp>
        <p:nvSpPr>
          <p:cNvPr id="74" name="Text 71"/>
          <p:cNvSpPr/>
          <p:nvPr/>
        </p:nvSpPr>
        <p:spPr>
          <a:xfrm>
            <a:off x="9418320" y="495604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9418320" y="52120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Worry about item damage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9418320" y="55046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Late returns disrupting schedule</a:t>
            </a:r>
            <a:endParaRPr lang="en-US" sz="950" dirty="0"/>
          </a:p>
        </p:txBody>
      </p:sp>
      <p:sp>
        <p:nvSpPr>
          <p:cNvPr id="77" name="Text 74"/>
          <p:cNvSpPr/>
          <p:nvPr/>
        </p:nvSpPr>
        <p:spPr>
          <a:xfrm>
            <a:off x="9418320" y="57972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Non-tech-friendly interfaces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Empathy Maps — Both User Groups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Says · Thinks · Does · Feels — mapped for each side of the marketplace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15568"/>
            <a:ext cx="5577840" cy="34747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 &amp; Renter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499616"/>
            <a:ext cx="274320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2920" y="1499616"/>
            <a:ext cx="45720" cy="2084832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591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191109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"How can I be sure the condition is exactly as described?"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38658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"Are there real reviews from previous users?"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"Is the payment process safe? Can I pay cash?"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19272" y="1499616"/>
            <a:ext cx="274320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19272" y="1499616"/>
            <a:ext cx="45720" cy="2084832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456432" y="1591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56432" y="191109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Second-hand can save money, but it might be risky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56432" y="238658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A verification system would make me trust this more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56432" y="286207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Clear photos and detailed descriptions are essential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3657600"/>
            <a:ext cx="274320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02920" y="3657600"/>
            <a:ext cx="45720" cy="2084832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" y="374904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" y="40690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Compares prices between new and second-hand options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" y="454456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Reads reviews and ratings before every purchase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502005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Asks sellers questions about condition and usage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319272" y="3657600"/>
            <a:ext cx="2743200" cy="2295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319272" y="3657600"/>
            <a:ext cx="45720" cy="2084832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456432" y="374904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FEELS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456432" y="40690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😟 Concern about scams or wrong condition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456432" y="454456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😌 Relief when sellers are verified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456432" y="502005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😄 Excitement when finding a great deal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456432" y="549554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😤 Frustration when product info is unclear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217920" y="1115568"/>
            <a:ext cx="5577840" cy="34747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217920" y="1115568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Seller &amp; Lender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17920" y="1499616"/>
            <a:ext cx="274320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217920" y="1499616"/>
            <a:ext cx="45720" cy="2084832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55080" y="1591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355080" y="191109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"How much commission will the platform take?"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355080" y="238658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"What if someone returns my item damaged?"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355080" y="286207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"Is the listing process quick? I'm not technical."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034272" y="1499616"/>
            <a:ext cx="274320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034272" y="1499616"/>
            <a:ext cx="45720" cy="2084832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171432" y="1591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171432" y="191109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Is it worth the effort to clean, photograph and ship?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9171432" y="238658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 hope my personal details stay private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9171432" y="286207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 want a hassle-free way to sell without drama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217920" y="3657600"/>
            <a:ext cx="274320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217920" y="3657600"/>
            <a:ext cx="45720" cy="2084832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355080" y="374904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355080" y="40690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Cleans and prepares items to look as new as possible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355080" y="454456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Researches similar listings to set a competitive price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355080" y="502005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Packages items carefully to avoid shipping damage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9034272" y="3657600"/>
            <a:ext cx="2743200" cy="2295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9034272" y="3657600"/>
            <a:ext cx="45720" cy="2084832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9171432" y="374904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FEELS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9171432" y="40690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😰 Anxiety about shipping high-value items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171432" y="454456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😒 Annoyance at lowball offers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9171432" y="502005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😊 Satisfaction turning clutter into income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171432" y="549554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🤞 Hopeful items find a good second home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Journey Maps · Information Architecture · User Flows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UX Architecture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Journey Map — Buyer / Renter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5-phase emotional journey from first awareness to transaction complete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0" y="1115568"/>
            <a:ext cx="1920240" cy="34747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0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Awareness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011680" y="1481328"/>
            <a:ext cx="1920240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66544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finds ReOwned, searches for items to buy or rent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0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66544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Unsure about platform trust; unclear item condition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11680" y="3385641"/>
            <a:ext cx="1920240" cy="457200"/>
          </a:xfrm>
          <a:prstGeom prst="rect">
            <a:avLst/>
          </a:prstGeom>
          <a:solidFill>
            <a:srgbClr val="FFFB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11680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😐 Uncertain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11680" y="4371030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066544" y="440760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badges, item verification, clear condition labels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005072" y="1115568"/>
            <a:ext cx="1920240" cy="34747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05072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View &amp; Check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005072" y="1481328"/>
            <a:ext cx="1920240" cy="768096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059936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Opens item details, reviews photos, price, deposit and terms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005072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59936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Incomplete info, confusing rental terms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005072" y="3385641"/>
            <a:ext cx="1920240" cy="457200"/>
          </a:xfrm>
          <a:prstGeom prst="rect">
            <a:avLst/>
          </a:prstGeom>
          <a:solidFill>
            <a:srgbClr val="FFFB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05072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🤔 Cautious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005072" y="4371030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059936" y="440760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Multi-angle photos, clear pricing, rental calendar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998464" y="1115568"/>
            <a:ext cx="1920240" cy="34747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98464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Contact &amp; Pay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98464" y="1481328"/>
            <a:ext cx="1920240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53328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seller, confirms, completes payment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98464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053328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Delayed replies; worries about payment security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98464" y="3385641"/>
            <a:ext cx="1920240" cy="457200"/>
          </a:xfrm>
          <a:prstGeom prst="rect">
            <a:avLst/>
          </a:prstGeom>
          <a:solidFill>
            <a:srgbClr val="FFFB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998464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😬 Tense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98464" y="4371030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053328" y="440760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notifications, secure gateways, confirmation emails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991856" y="1115568"/>
            <a:ext cx="1920240" cy="34747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991856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Receive &amp; Use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991856" y="1481328"/>
            <a:ext cx="1920240" cy="768096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046720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delivered; buyer receives or renter uses it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991856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046720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delays, damage during transit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991856" y="3385641"/>
            <a:ext cx="1920240" cy="457200"/>
          </a:xfrm>
          <a:prstGeom prst="rect">
            <a:avLst/>
          </a:prstGeom>
          <a:solidFill>
            <a:srgbClr val="FFFB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991856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😄 Excited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991856" y="4371030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046720" y="440760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Tracking, pre/post delivery verification, support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9985248" y="1115568"/>
            <a:ext cx="1920240" cy="34747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9985248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Return &amp; Review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985248" y="1481328"/>
            <a:ext cx="1920240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040112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 reviews; renter returns item and gets deposit back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985248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040112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Complicated return; unclear deposit refund process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9985248" y="3385641"/>
            <a:ext cx="1920240" cy="457200"/>
          </a:xfrm>
          <a:prstGeom prst="rect">
            <a:avLst/>
          </a:prstGeom>
          <a:solidFill>
            <a:srgbClr val="FFFB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9985248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😌 Relieved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985248" y="4371030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0040112" y="440760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Simplified return, auto deposit refund, review incentives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02920" y="1463040"/>
            <a:ext cx="1481328" cy="768096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502920" y="1463040"/>
            <a:ext cx="1481328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502920" y="2286000"/>
            <a:ext cx="1481328" cy="768096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02920" y="2286000"/>
            <a:ext cx="1481328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502920" y="3364992"/>
            <a:ext cx="1481328" cy="45720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02920" y="3364992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FEELING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02920" y="4370832"/>
            <a:ext cx="1481328" cy="768096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502920" y="4370832"/>
            <a:ext cx="1481328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Journey Map — Seller / Lender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5-phase journey from platform awareness to payment received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0" y="1115568"/>
            <a:ext cx="1920240" cy="34747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0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Awareness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011680" y="1481328"/>
            <a:ext cx="1920240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66544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Seller registers and creates a listing for their device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0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66544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Uncertainty about platform trust; unclear listing process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11680" y="3385641"/>
            <a:ext cx="1920240" cy="457200"/>
          </a:xfrm>
          <a:prstGeom prst="rect">
            <a:avLst/>
          </a:prstGeom>
          <a:solidFill>
            <a:srgbClr val="FFF8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11680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😕 Hesitant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11680" y="4351362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066544" y="4387938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guide, verified seller badge, intuitive UI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005072" y="1115568"/>
            <a:ext cx="1920240" cy="34747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05072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Set Price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005072" y="1481328"/>
            <a:ext cx="1920240" cy="768096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059936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Sets rental price, sale price, duration and deposit requirements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005072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59936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Confused about competitive pricing and rental policies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005072" y="3385641"/>
            <a:ext cx="1920240" cy="457200"/>
          </a:xfrm>
          <a:prstGeom prst="rect">
            <a:avLst/>
          </a:prstGeom>
          <a:solidFill>
            <a:srgbClr val="FFF8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05072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😟 Anxious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005072" y="4351362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059936" y="4387938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Suggested pricing guide, clear commission breakdown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998464" y="1115568"/>
            <a:ext cx="1920240" cy="34747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98464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Communicate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98464" y="1481328"/>
            <a:ext cx="1920240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53328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Responds to inquiries and answers questions about the device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98464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053328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responses; worries about disputes or scams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98464" y="3385641"/>
            <a:ext cx="1920240" cy="457200"/>
          </a:xfrm>
          <a:prstGeom prst="rect">
            <a:avLst/>
          </a:prstGeom>
          <a:solidFill>
            <a:srgbClr val="FFF8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998464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😤 Alert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98464" y="4351362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053328" y="4387938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In-app chat notifications, dispute support, Q&amp;A templates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991856" y="1115568"/>
            <a:ext cx="1920240" cy="34747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991856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Ship / Pickup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991856" y="1481328"/>
            <a:ext cx="1920240" cy="768096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046720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Arranges delivery or approves local pickup; confirms condition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991856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046720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delays; damage during transport; unclear verification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991856" y="3385641"/>
            <a:ext cx="1920240" cy="457200"/>
          </a:xfrm>
          <a:prstGeom prst="rect">
            <a:avLst/>
          </a:prstGeom>
          <a:solidFill>
            <a:srgbClr val="FFF8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991856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😌 Attentive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991856" y="4351362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046720" y="4387938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tracking, pre-shipment checklist, condition photos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9985248" y="1115568"/>
            <a:ext cx="1920240" cy="34747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9985248" y="1115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Complete &amp; Pay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985248" y="1481328"/>
            <a:ext cx="1920240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040112" y="1508760"/>
            <a:ext cx="181051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returned or sale completed; seller receives payment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985248" y="2286000"/>
            <a:ext cx="1920240" cy="768096"/>
          </a:xfrm>
          <a:prstGeom prst="rect">
            <a:avLst/>
          </a:prstGeom>
          <a:solidFill>
            <a:srgbClr val="FFF0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040112" y="2322576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delays; disputes over condition; rating uncertainty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9985248" y="3385641"/>
            <a:ext cx="1920240" cy="457200"/>
          </a:xfrm>
          <a:prstGeom prst="rect">
            <a:avLst/>
          </a:prstGeom>
          <a:solidFill>
            <a:srgbClr val="FFF8EE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9985248" y="3385641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😊 Satisfied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985248" y="4351362"/>
            <a:ext cx="1920240" cy="768096"/>
          </a:xfrm>
          <a:prstGeom prst="rect">
            <a:avLst/>
          </a:prstGeom>
          <a:solidFill>
            <a:srgbClr val="F0FFF5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0040112" y="4387938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payment release, rating system, instant deposit transfer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02920" y="1463040"/>
            <a:ext cx="1481328" cy="768096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502920" y="1463040"/>
            <a:ext cx="1481328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502920" y="2286000"/>
            <a:ext cx="1481328" cy="768096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02920" y="2286000"/>
            <a:ext cx="1481328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502920" y="3364992"/>
            <a:ext cx="1481328" cy="457200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02920" y="3364992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FEELING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02920" y="4370832"/>
            <a:ext cx="1481328" cy="768096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502920" y="4370832"/>
            <a:ext cx="1481328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Flow — All 4 Paths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shared entry point · Four parallel journeys · One converged outcome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1556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00304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 App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1307592"/>
            <a:ext cx="36576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017520" y="111556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17520" y="111556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Up / Login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66360" y="1307592"/>
            <a:ext cx="36576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111556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32120" y="111556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1307592"/>
            <a:ext cx="36576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46720" y="111556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46720" y="111556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Action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1664208"/>
            <a:ext cx="2743200" cy="320040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7784" y="1664208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🛒  BUYER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20299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" y="2029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Browse / Search Items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24871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2487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View Product Detail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29443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2944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Contact Seller (Chat)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02920" y="34015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94360" y="3401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Confirm Purchase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2920" y="38587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" y="38587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Payment — COD / Card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02920" y="43159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94360" y="4315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Track Delivery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2920" y="47731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94360" y="4773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Receive &amp; Inspect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02920" y="52303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94360" y="5230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Rate &amp; Review Seller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" y="57607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3049">
              <a:alpha val="12000"/>
            </a:srgbClr>
          </a:solidFill>
          <a:ln w="10160">
            <a:solidFill>
              <a:srgbClr val="00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94360" y="57607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⬦  Issue? → Dispute / Refund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429000" y="1664208"/>
            <a:ext cx="2743200" cy="320040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483864" y="1664208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 RENTER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429000" y="20299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520440" y="2029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Browse Rentals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429000" y="24871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520440" y="2487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Check Terms + Deposit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429000" y="29443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520440" y="2944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ID Verification Upload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429000" y="34015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520440" y="3401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Contact Owner + Confirm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429000" y="38587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3520440" y="38587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Pay Fee + Deposit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429000" y="43159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520440" y="4315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Receive (Condition Check)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3429000" y="47731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3520440" y="4773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Use for Rental Period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429000" y="52303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520440" y="5230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Return → Deposit Refund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29000" y="57607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27AE60">
              <a:alpha val="12000"/>
            </a:srgbClr>
          </a:solidFill>
          <a:ln w="1016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520440" y="57607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⬦  Damage? → Deduct Deposit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355080" y="1664208"/>
            <a:ext cx="2743200" cy="32004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409944" y="1664208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🏷  SELLER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6355080" y="20299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446520" y="2029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Create Listing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6355080" y="24871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6446520" y="2487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Upload Photos (3+ angles)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355080" y="29443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446520" y="2944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Set Price (Guide Shown)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355080" y="34015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446520" y="3401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Publish &amp; Go Live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355080" y="38587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446520" y="38587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Receive Inquiries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6355080" y="43159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6446520" y="4315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Confirm Buyer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6355080" y="47731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6446520" y="4773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Ship / Handover Item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355080" y="52303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6446520" y="5230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Receive Payment → Rate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6355080" y="57607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77F00">
              <a:alpha val="12000"/>
            </a:srgbClr>
          </a:solidFill>
          <a:ln w="1016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6446520" y="57607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⬦  Offer → Accept / Decline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9281160" y="1664208"/>
            <a:ext cx="2743200" cy="320040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9336024" y="1664208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🏠  LENDER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9281160" y="20299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9372600" y="2029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List Item for Rent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9281160" y="24871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9372600" y="2487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Set Terms + Duration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9281160" y="29443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9372600" y="2944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Add Insurance Option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9281160" y="34015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9372600" y="3401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Publish Listing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9281160" y="38587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9372600" y="38587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Review Renter ID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9281160" y="43159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9372600" y="43159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Approve Request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9281160" y="4773168"/>
            <a:ext cx="27432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9372600" y="4773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Hand Over Item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9281160" y="5230368"/>
            <a:ext cx="2743200" cy="41148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9372600" y="52303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Inspect Return + Release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9281160" y="57607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E44AD">
              <a:alpha val="12000"/>
            </a:srgbClr>
          </a:solidFill>
          <a:ln w="1016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9372600" y="57607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⬦  Damage? → Deduct / Release</a:t>
            </a: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3520440" y="6291072"/>
            <a:ext cx="5120640" cy="384048"/>
          </a:xfrm>
          <a:prstGeom prst="roundRect">
            <a:avLst>
              <a:gd name="adj" fmla="val 23810"/>
            </a:avLst>
          </a:prstGeom>
          <a:solidFill>
            <a:srgbClr val="F77F0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3520440" y="629107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🎉  Transaction Complete — All Flows Converge</a:t>
            </a:r>
            <a:endParaRPr lang="en-US" sz="1100" dirty="0"/>
          </a:p>
        </p:txBody>
      </p:sp>
      <p:sp>
        <p:nvSpPr>
          <p:cNvPr id="99" name="Text 96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049"/>
                </a:solidFill>
                <a:latin typeface="Calibri" panose="020F0502020204030204"/>
              </a:rPr>
              <a:t>User Flow —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8096"/>
                </a:solidFill>
                <a:latin typeface="Calibri" panose="020F0502020204030204"/>
              </a:rPr>
              <a:t>Step-by-step explanation of each user journey through the ReOwned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1188720"/>
            <a:ext cx="365760" cy="36576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BUYER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49"/>
                </a:solidFill>
                <a:latin typeface="Calibri" panose="020F0502020204030204"/>
              </a:rPr>
              <a:t>Buyer Flow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645920"/>
            <a:ext cx="219456" cy="219456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824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Browse &amp; Search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Users discover items through filters, categories, and keyword search across the entire marketplace.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40"/>
            <a:ext cx="219456" cy="219456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41401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View Product Detail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High-resolution photos, condition reports, seller ratings, and pricing help buyers evaluate items.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08960"/>
            <a:ext cx="219456" cy="219456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14553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Contact Seller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In-app messaging enables negotiation and clarification without sharing personal contact info.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40480"/>
            <a:ext cx="219456" cy="219456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87705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Confirm &amp; Pay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Secure checkout supports COD and card payments — COD is preferred by Egyptian users.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219456" cy="219456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60857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Track &amp; Receive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Real-time order tracking with status updates, plus an inspection window upon receipt.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03520"/>
            <a:ext cx="219456" cy="219456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3400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Rate &amp; Review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Post-transaction feedback builds trust and helps future buyers make informed decisions.</a:t>
            </a:r>
          </a:p>
        </p:txBody>
      </p:sp>
      <p:sp>
        <p:nvSpPr>
          <p:cNvPr id="26" name="Oval 25"/>
          <p:cNvSpPr/>
          <p:nvPr/>
        </p:nvSpPr>
        <p:spPr>
          <a:xfrm>
            <a:off x="3429000" y="118872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29000" y="12435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RENTER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49"/>
                </a:solidFill>
                <a:latin typeface="Calibri" panose="020F0502020204030204"/>
              </a:rPr>
              <a:t>Renter Flow</a:t>
            </a:r>
          </a:p>
        </p:txBody>
      </p:sp>
      <p:sp>
        <p:nvSpPr>
          <p:cNvPr id="29" name="Oval 28"/>
          <p:cNvSpPr/>
          <p:nvPr/>
        </p:nvSpPr>
        <p:spPr>
          <a:xfrm>
            <a:off x="3474720" y="164592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16824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16459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Browse Rentals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Dedicated rental section with availability calendars, pricing tiers, and duration options.</a:t>
            </a:r>
          </a:p>
        </p:txBody>
      </p:sp>
      <p:sp>
        <p:nvSpPr>
          <p:cNvPr id="32" name="Oval 31"/>
          <p:cNvSpPr/>
          <p:nvPr/>
        </p:nvSpPr>
        <p:spPr>
          <a:xfrm>
            <a:off x="3474720" y="237744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0" y="241401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237744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Check Terms &amp; Deposit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Transparent rental conditions including deposit amount, duration limits, and insurance.</a:t>
            </a:r>
          </a:p>
        </p:txBody>
      </p:sp>
      <p:sp>
        <p:nvSpPr>
          <p:cNvPr id="35" name="Oval 34"/>
          <p:cNvSpPr/>
          <p:nvPr/>
        </p:nvSpPr>
        <p:spPr>
          <a:xfrm>
            <a:off x="3474720" y="310896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0" y="314553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310896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ID Verification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Mandatory identity verification protects owners — renters upload a valid ID before approval.</a:t>
            </a:r>
          </a:p>
        </p:txBody>
      </p:sp>
      <p:sp>
        <p:nvSpPr>
          <p:cNvPr id="38" name="Oval 37"/>
          <p:cNvSpPr/>
          <p:nvPr/>
        </p:nvSpPr>
        <p:spPr>
          <a:xfrm>
            <a:off x="3474720" y="384048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387705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384048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Confirm &amp; Pay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Rental fee plus refundable deposit collected upfront with clear deposit return conditions.</a:t>
            </a:r>
          </a:p>
        </p:txBody>
      </p:sp>
      <p:sp>
        <p:nvSpPr>
          <p:cNvPr id="41" name="Oval 40"/>
          <p:cNvSpPr/>
          <p:nvPr/>
        </p:nvSpPr>
        <p:spPr>
          <a:xfrm>
            <a:off x="3474720" y="457200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0" y="460857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0" y="457200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Receive &amp; Use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Condition check at pickup confirmed digitally; rental period tracked with return reminders.</a:t>
            </a:r>
          </a:p>
        </p:txBody>
      </p:sp>
      <p:sp>
        <p:nvSpPr>
          <p:cNvPr id="44" name="Oval 43"/>
          <p:cNvSpPr/>
          <p:nvPr/>
        </p:nvSpPr>
        <p:spPr>
          <a:xfrm>
            <a:off x="3474720" y="530352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74720" y="53400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53035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Return &amp; Refund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Item inspected on return — deposit released if condition matches; damage results in fair deduction.</a:t>
            </a:r>
          </a:p>
        </p:txBody>
      </p:sp>
      <p:sp>
        <p:nvSpPr>
          <p:cNvPr id="47" name="Oval 46"/>
          <p:cNvSpPr/>
          <p:nvPr/>
        </p:nvSpPr>
        <p:spPr>
          <a:xfrm>
            <a:off x="6355080" y="1188720"/>
            <a:ext cx="365760" cy="365760"/>
          </a:xfrm>
          <a:prstGeom prst="ellipse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55080" y="12435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SELLER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49"/>
                </a:solidFill>
                <a:latin typeface="Calibri" panose="020F0502020204030204"/>
              </a:rPr>
              <a:t>Seller Flow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645920"/>
            <a:ext cx="219456" cy="219456"/>
          </a:xfrm>
          <a:prstGeom prst="ellipse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16824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16459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Create Listing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Guided listing flow with smart suggestions for pricing based on category and market data.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2377440"/>
            <a:ext cx="219456" cy="219456"/>
          </a:xfrm>
          <a:prstGeom prst="ellipse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241401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237744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Upload Photos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Minimum 3-angle photo requirement ensures quality listings with built-in camera integration.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3108960"/>
            <a:ext cx="219456" cy="219456"/>
          </a:xfrm>
          <a:prstGeom prst="ellipse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0" y="314553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310896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Set Price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AI-assisted pricing guide shows market averages and suggested ranges for competitive pricing.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3840480"/>
            <a:ext cx="219456" cy="219456"/>
          </a:xfrm>
          <a:prstGeom prst="ellipse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387705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384048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Publish &amp; Respond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Listing goes live instantly; real-time notifications for inquiries and offers.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4572000"/>
            <a:ext cx="219456" cy="219456"/>
          </a:xfrm>
          <a:prstGeom prst="ellipse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0" y="460857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457200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Confirm Buyer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Seller reviews buyer profile, ratings, and offer details before accepting.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5303520"/>
            <a:ext cx="219456" cy="219456"/>
          </a:xfrm>
          <a:prstGeom prst="ellipse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0" y="53400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53035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Ship &amp; Get Paid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Flexible handover options; payment released after buyer confirms receipt.</a:t>
            </a:r>
          </a:p>
        </p:txBody>
      </p:sp>
      <p:sp>
        <p:nvSpPr>
          <p:cNvPr id="68" name="Oval 67"/>
          <p:cNvSpPr/>
          <p:nvPr/>
        </p:nvSpPr>
        <p:spPr>
          <a:xfrm>
            <a:off x="9281160" y="1188720"/>
            <a:ext cx="365760" cy="36576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81160" y="12435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LENDER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3836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49"/>
                </a:solidFill>
                <a:latin typeface="Calibri" panose="020F0502020204030204"/>
              </a:rPr>
              <a:t>Lender Flow</a:t>
            </a:r>
          </a:p>
        </p:txBody>
      </p:sp>
      <p:sp>
        <p:nvSpPr>
          <p:cNvPr id="71" name="Oval 70"/>
          <p:cNvSpPr/>
          <p:nvPr/>
        </p:nvSpPr>
        <p:spPr>
          <a:xfrm>
            <a:off x="9326880" y="1645920"/>
            <a:ext cx="219456" cy="21945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326880" y="16824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16459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List for Rent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Create a rental listing with terms, availability calendar, and optional insurance.</a:t>
            </a:r>
          </a:p>
        </p:txBody>
      </p:sp>
      <p:sp>
        <p:nvSpPr>
          <p:cNvPr id="74" name="Oval 73"/>
          <p:cNvSpPr/>
          <p:nvPr/>
        </p:nvSpPr>
        <p:spPr>
          <a:xfrm>
            <a:off x="9326880" y="2377440"/>
            <a:ext cx="219456" cy="21945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326880" y="241401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237744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Set Terms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Define rental duration, rates, deposit requirements, and condition documentation rules.</a:t>
            </a:r>
          </a:p>
        </p:txBody>
      </p:sp>
      <p:sp>
        <p:nvSpPr>
          <p:cNvPr id="77" name="Oval 76"/>
          <p:cNvSpPr/>
          <p:nvPr/>
        </p:nvSpPr>
        <p:spPr>
          <a:xfrm>
            <a:off x="9326880" y="3108960"/>
            <a:ext cx="219456" cy="21945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326880" y="314553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310896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Review Renter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Access renter profiles with verification status, rental history, and community ratings.</a:t>
            </a:r>
          </a:p>
        </p:txBody>
      </p:sp>
      <p:sp>
        <p:nvSpPr>
          <p:cNvPr id="80" name="Oval 79"/>
          <p:cNvSpPr/>
          <p:nvPr/>
        </p:nvSpPr>
        <p:spPr>
          <a:xfrm>
            <a:off x="9326880" y="3840480"/>
            <a:ext cx="219456" cy="21945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326880" y="387705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384048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Approve Request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Full discretion to accept or decline rental requests — lenders maintain complete control.</a:t>
            </a:r>
          </a:p>
        </p:txBody>
      </p:sp>
      <p:sp>
        <p:nvSpPr>
          <p:cNvPr id="83" name="Oval 82"/>
          <p:cNvSpPr/>
          <p:nvPr/>
        </p:nvSpPr>
        <p:spPr>
          <a:xfrm>
            <a:off x="9326880" y="4572000"/>
            <a:ext cx="219456" cy="21945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326880" y="460857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01200" y="457200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Hand Over Item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Digital condition report signed by both parties protects against false damage claims.</a:t>
            </a:r>
          </a:p>
        </p:txBody>
      </p:sp>
      <p:sp>
        <p:nvSpPr>
          <p:cNvPr id="86" name="Oval 85"/>
          <p:cNvSpPr/>
          <p:nvPr/>
        </p:nvSpPr>
        <p:spPr>
          <a:xfrm>
            <a:off x="9326880" y="5303520"/>
            <a:ext cx="219456" cy="21945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26880" y="534009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01200" y="5303520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Inspect Return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Structured return inspection with photo evidence; deposit handled per agreement.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Hierarchical map of all platform sections and user-type flows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00600" y="105156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0304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00600" y="1051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ReOwned App  ·  Web &amp; Mobile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80760" y="1508760"/>
            <a:ext cx="0" cy="256032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4400" y="1764792"/>
            <a:ext cx="1033272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554480" y="1764792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2011680"/>
            <a:ext cx="2103120" cy="34747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01168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37744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7784" y="239572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 · Sign Up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2920" y="265176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7784" y="267004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In · Verify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02920" y="292608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7784" y="294436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Select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2920" y="320040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" y="321868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Setup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858768" y="1764792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807208" y="2011680"/>
            <a:ext cx="2103120" cy="347472"/>
          </a:xfrm>
          <a:prstGeom prst="rect">
            <a:avLst/>
          </a:prstGeom>
          <a:solidFill>
            <a:srgbClr val="0A4A6E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807208" y="201168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807208" y="237744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862072" y="239572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Feed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807208" y="265176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862072" y="267004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&amp; Filters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807208" y="292608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862072" y="294436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Featured Items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807208" y="320040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862072" y="321868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163056" y="1764792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111496" y="2011680"/>
            <a:ext cx="2103120" cy="347472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111496" y="201168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111496" y="237744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166360" y="239572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Results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111496" y="265176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166360" y="267004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Panel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111496" y="292608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166360" y="294436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Sale / Rent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111496" y="320040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166360" y="321868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View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8467344" y="1764792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415784" y="2011680"/>
            <a:ext cx="2103120" cy="347472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415784" y="201168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415784" y="237744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7470648" y="239572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· Rentals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7415784" y="265176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470648" y="267004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Messages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415784" y="292608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7470648" y="294436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Alerts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7415784" y="320040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470648" y="321868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Updates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10771632" y="1764792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9720072" y="2011680"/>
            <a:ext cx="2103120" cy="347472"/>
          </a:xfrm>
          <a:prstGeom prst="rect">
            <a:avLst/>
          </a:prstGeom>
          <a:solidFill>
            <a:srgbClr val="4A5568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9720072" y="201168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9720072" y="237744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9774936" y="239572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Centre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9720072" y="265176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774936" y="267004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Dispute Center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720072" y="2926080"/>
            <a:ext cx="21031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9774936" y="294436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System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720072" y="3200400"/>
            <a:ext cx="21031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9774936" y="321868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 Requests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02920" y="3602736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USER-TYPE FLOWS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502920" y="3877056"/>
            <a:ext cx="111556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502920" y="3950208"/>
            <a:ext cx="2743200" cy="320040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502920" y="39502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🛒 Buyer Flow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02920" y="4297680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594360" y="43159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Detail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502920" y="4645152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594360" y="4663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In-App Chat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502920" y="4992624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594360" y="5010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Offer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02920" y="5340096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594360" y="53583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Checkout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502920" y="5687568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594360" y="57058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502920" y="6035040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594360" y="60533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Tracking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502920" y="63825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594360" y="6400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&amp; Review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3429000" y="3950208"/>
            <a:ext cx="2743200" cy="320040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3429000" y="39502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Renter Flow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3429000" y="4297680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3520440" y="43159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Rental Detail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3429000" y="4645152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3520440" y="4663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Verification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3429000" y="4992624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3520440" y="5010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Rental Request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3429000" y="5340096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3520440" y="53583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+ Deposit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3429000" y="5687568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3520440" y="57058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Rental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3429000" y="6035040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3520440" y="60533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Item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3429000" y="63825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3520440" y="6400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Deposit Refund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6355080" y="3950208"/>
            <a:ext cx="2743200" cy="32004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/>
          <p:nvPr/>
        </p:nvSpPr>
        <p:spPr>
          <a:xfrm>
            <a:off x="6355080" y="39502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🏷 Seller Flow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6355080" y="4297680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/>
          <p:nvPr/>
        </p:nvSpPr>
        <p:spPr>
          <a:xfrm>
            <a:off x="6446520" y="43159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Listing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355080" y="4645152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1"/>
          <p:cNvSpPr/>
          <p:nvPr/>
        </p:nvSpPr>
        <p:spPr>
          <a:xfrm>
            <a:off x="6446520" y="4663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 Upload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6355080" y="4992624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3"/>
          <p:cNvSpPr/>
          <p:nvPr/>
        </p:nvSpPr>
        <p:spPr>
          <a:xfrm>
            <a:off x="6446520" y="5010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Screen</a:t>
            </a:r>
            <a:endParaRPr lang="en-US" sz="900" dirty="0"/>
          </a:p>
        </p:txBody>
      </p:sp>
      <p:sp>
        <p:nvSpPr>
          <p:cNvPr id="107" name="Shape 104"/>
          <p:cNvSpPr/>
          <p:nvPr/>
        </p:nvSpPr>
        <p:spPr>
          <a:xfrm>
            <a:off x="6355080" y="5340096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/>
          <p:nvPr/>
        </p:nvSpPr>
        <p:spPr>
          <a:xfrm>
            <a:off x="6446520" y="53583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 Listing</a:t>
            </a:r>
            <a:endParaRPr lang="en-US" sz="900" dirty="0"/>
          </a:p>
        </p:txBody>
      </p:sp>
      <p:sp>
        <p:nvSpPr>
          <p:cNvPr id="109" name="Shape 106"/>
          <p:cNvSpPr/>
          <p:nvPr/>
        </p:nvSpPr>
        <p:spPr>
          <a:xfrm>
            <a:off x="6355080" y="5687568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7"/>
          <p:cNvSpPr/>
          <p:nvPr/>
        </p:nvSpPr>
        <p:spPr>
          <a:xfrm>
            <a:off x="6446520" y="57058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Inquiries Inbox</a:t>
            </a:r>
            <a:endParaRPr lang="en-US" sz="900" dirty="0"/>
          </a:p>
        </p:txBody>
      </p:sp>
      <p:sp>
        <p:nvSpPr>
          <p:cNvPr id="111" name="Shape 108"/>
          <p:cNvSpPr/>
          <p:nvPr/>
        </p:nvSpPr>
        <p:spPr>
          <a:xfrm>
            <a:off x="6355080" y="6035040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9"/>
          <p:cNvSpPr/>
          <p:nvPr/>
        </p:nvSpPr>
        <p:spPr>
          <a:xfrm>
            <a:off x="6446520" y="60533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Ship/Handover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6355080" y="63825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1"/>
          <p:cNvSpPr/>
          <p:nvPr/>
        </p:nvSpPr>
        <p:spPr>
          <a:xfrm>
            <a:off x="6446520" y="6400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Buyer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9281160" y="3950208"/>
            <a:ext cx="2743200" cy="320040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endParaRPr lang="en-US"/>
          </a:p>
        </p:txBody>
      </p:sp>
      <p:sp>
        <p:nvSpPr>
          <p:cNvPr id="116" name="Text 113"/>
          <p:cNvSpPr/>
          <p:nvPr/>
        </p:nvSpPr>
        <p:spPr>
          <a:xfrm>
            <a:off x="9281160" y="39502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🏠 Owner/Lender</a:t>
            </a:r>
            <a:endParaRPr lang="en-US" sz="1000" dirty="0"/>
          </a:p>
        </p:txBody>
      </p:sp>
      <p:sp>
        <p:nvSpPr>
          <p:cNvPr id="117" name="Shape 114"/>
          <p:cNvSpPr/>
          <p:nvPr/>
        </p:nvSpPr>
        <p:spPr>
          <a:xfrm>
            <a:off x="9281160" y="4297680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5"/>
          <p:cNvSpPr/>
          <p:nvPr/>
        </p:nvSpPr>
        <p:spPr>
          <a:xfrm>
            <a:off x="9372600" y="43159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Rental Listing</a:t>
            </a:r>
            <a:endParaRPr lang="en-US" sz="900" dirty="0"/>
          </a:p>
        </p:txBody>
      </p:sp>
      <p:sp>
        <p:nvSpPr>
          <p:cNvPr id="119" name="Shape 116"/>
          <p:cNvSpPr/>
          <p:nvPr/>
        </p:nvSpPr>
        <p:spPr>
          <a:xfrm>
            <a:off x="9281160" y="4645152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7"/>
          <p:cNvSpPr/>
          <p:nvPr/>
        </p:nvSpPr>
        <p:spPr>
          <a:xfrm>
            <a:off x="9372600" y="4663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Terms</a:t>
            </a:r>
            <a:endParaRPr lang="en-US" sz="900" dirty="0"/>
          </a:p>
        </p:txBody>
      </p:sp>
      <p:sp>
        <p:nvSpPr>
          <p:cNvPr id="121" name="Shape 118"/>
          <p:cNvSpPr/>
          <p:nvPr/>
        </p:nvSpPr>
        <p:spPr>
          <a:xfrm>
            <a:off x="9281160" y="4992624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19"/>
          <p:cNvSpPr/>
          <p:nvPr/>
        </p:nvSpPr>
        <p:spPr>
          <a:xfrm>
            <a:off x="9372600" y="50109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 Cal</a:t>
            </a:r>
            <a:endParaRPr lang="en-US" sz="900" dirty="0"/>
          </a:p>
        </p:txBody>
      </p:sp>
      <p:sp>
        <p:nvSpPr>
          <p:cNvPr id="123" name="Shape 120"/>
          <p:cNvSpPr/>
          <p:nvPr/>
        </p:nvSpPr>
        <p:spPr>
          <a:xfrm>
            <a:off x="9281160" y="5340096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1"/>
          <p:cNvSpPr/>
          <p:nvPr/>
        </p:nvSpPr>
        <p:spPr>
          <a:xfrm>
            <a:off x="9372600" y="53583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Renter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9281160" y="5687568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3"/>
          <p:cNvSpPr/>
          <p:nvPr/>
        </p:nvSpPr>
        <p:spPr>
          <a:xfrm>
            <a:off x="9372600" y="57058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 Request</a:t>
            </a:r>
            <a:endParaRPr lang="en-US" sz="900" dirty="0"/>
          </a:p>
        </p:txBody>
      </p:sp>
      <p:sp>
        <p:nvSpPr>
          <p:cNvPr id="127" name="Shape 124"/>
          <p:cNvSpPr/>
          <p:nvPr/>
        </p:nvSpPr>
        <p:spPr>
          <a:xfrm>
            <a:off x="9281160" y="6035040"/>
            <a:ext cx="2743200" cy="320040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5"/>
          <p:cNvSpPr/>
          <p:nvPr/>
        </p:nvSpPr>
        <p:spPr>
          <a:xfrm>
            <a:off x="9372600" y="60533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Tracker</a:t>
            </a:r>
            <a:endParaRPr lang="en-US" sz="900" dirty="0"/>
          </a:p>
        </p:txBody>
      </p:sp>
      <p:sp>
        <p:nvSpPr>
          <p:cNvPr id="129" name="Shape 126"/>
          <p:cNvSpPr/>
          <p:nvPr/>
        </p:nvSpPr>
        <p:spPr>
          <a:xfrm>
            <a:off x="9281160" y="63825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7"/>
          <p:cNvSpPr/>
          <p:nvPr/>
        </p:nvSpPr>
        <p:spPr>
          <a:xfrm>
            <a:off x="9372600" y="6400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 Return</a:t>
            </a:r>
            <a:endParaRPr lang="en-US" sz="900" dirty="0"/>
          </a:p>
        </p:txBody>
      </p:sp>
      <p:sp>
        <p:nvSpPr>
          <p:cNvPr id="131" name="Text 128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049"/>
                </a:solidFill>
                <a:latin typeface="Calibri" panose="020F0502020204030204"/>
              </a:rPr>
              <a:t>Information Architecture —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8096"/>
                </a:solidFill>
                <a:latin typeface="Calibri" panose="020F0502020204030204"/>
              </a:rPr>
              <a:t>Platform structure explained — every section, its purpose, and how users navigate through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049"/>
                </a:solidFill>
                <a:latin typeface="Calibri" panose="020F0502020204030204"/>
              </a:rPr>
              <a:t>Main Platform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91440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576" cy="9144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367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 panose="020F0502020204030204"/>
              </a:rPr>
              <a:t>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550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 panose="020F0502020204030204"/>
              </a:rPr>
              <a:t>Splash &amp; Sign Up · Log In &amp; Verify · Role Selection · Profile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First-time experience designed to build trust. Users sign up, verify identity, select their role, and complete profile setup. Verification establishes the trust foundation that differentiates ReOwned.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606040"/>
            <a:ext cx="36576" cy="914400"/>
          </a:xfrm>
          <a:prstGeom prst="rect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426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49"/>
                </a:solidFill>
                <a:latin typeface="Calibri" panose="020F0502020204030204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660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 panose="020F0502020204030204"/>
              </a:rPr>
              <a:t>Home Feed · Search &amp; Filters · Featured Items ·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Central hub after login — personalized by role. Buyers see recommendations and orders; sellers see listing performance and inquiries. Unified notification center keeps users informed.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36576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648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Calibri" panose="020F0502020204030204"/>
              </a:rPr>
              <a:t>Browse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6667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 panose="020F0502020204030204"/>
              </a:rPr>
              <a:t>Search Results · Filter Panel · For Sale / Rent · Map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31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Discovery engine with advanced filtering by category, condition, price, location, and listing type. Map view enables location-based browsing for local transactions.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36576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6542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 panose="020F0502020204030204"/>
              </a:rPr>
              <a:t>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67258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 panose="020F0502020204030204"/>
              </a:rPr>
              <a:t>Orders &amp; Rentals · Chat Messages · Payment Alerts · System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937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Real-time alerts organized by type — order updates, rental reminders, chat messages, payment confirmations. Badge counts and priority sorting ensure nothing is missed.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2356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36576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660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  <a:latin typeface="Calibri" panose="020F0502020204030204"/>
              </a:rPr>
              <a:t>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56784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 panose="020F0502020204030204"/>
              </a:rPr>
              <a:t>Help Centre · Dispute Center · Report System · Refund Requests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943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Comprehensive help and resolution system. Self-service Help Centre, Dispute Center for conflicts, Report System for violations, and Refund Request portal — all in-app.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049"/>
                </a:solidFill>
                <a:latin typeface="Calibri" panose="020F0502020204030204"/>
              </a:rPr>
              <a:t>User-Type Flows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508760"/>
            <a:ext cx="91440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17920" y="160020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1600200"/>
            <a:ext cx="36576" cy="11430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1636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 panose="020F0502020204030204"/>
              </a:rPr>
              <a:t>Buyer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920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End-to-end purchasing journey from discovery to review. Detailed product pages, verified seller profiles, in-app chat, and secure payment with COD support ensure buyers feel protected.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423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77F00"/>
                </a:solidFill>
                <a:latin typeface="Calibri" panose="020F0502020204030204"/>
              </a:rPr>
              <a:t>Product Detail → Chat → Offer → Checkout → Payment → Tracking → 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83464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2834640"/>
            <a:ext cx="36576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2871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Calibri" panose="020F0502020204030204"/>
              </a:rPr>
              <a:t>Renter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154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Rental journey with built-in safeguards. ID verification, transparent deposit terms, digital condition reports at handover and return, and automatic return reminders create a secure experience.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7AE60"/>
                </a:solidFill>
                <a:latin typeface="Calibri" panose="020F0502020204030204"/>
              </a:rPr>
              <a:t>Rental Detail → ID Verify → Request → Pay + Deposit → Active Rental → Return → Refund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06908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4069080"/>
            <a:ext cx="36576" cy="1143000"/>
          </a:xfrm>
          <a:prstGeom prst="rect">
            <a:avLst/>
          </a:prstGeom>
          <a:solidFill>
            <a:srgbClr val="00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0" y="4105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49"/>
                </a:solidFill>
                <a:latin typeface="Calibri" panose="020F0502020204030204"/>
              </a:rPr>
              <a:t>Seller 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389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Streamlined listing and selling with AI-assisted pricing. Photo requirements, market-based suggestions, and structured inquiry inbox help sellers create quality listings quickly.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892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3049"/>
                </a:solidFill>
                <a:latin typeface="Calibri" panose="020F0502020204030204"/>
              </a:rPr>
              <a:t>New Listing → Photos → Pricing → Publish → Inquiries → Ship/Handover → Rate Buyer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30352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303520"/>
            <a:ext cx="36576" cy="1143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9360" y="53400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  <a:latin typeface="Calibri" panose="020F0502020204030204"/>
              </a:rPr>
              <a:t>Lender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623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 panose="020F0502020204030204"/>
              </a:rPr>
              <a:t>Comprehensive lending management with protection. Custom rental terms, renter profile reviews, digital condition documentation, insurance options, and fair deposit policies.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6126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Rental Listing → Terms → Calendar → Review Renter → Approve → Tracker → Inspect Return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Low-Fidelity · 19 Mobile Screens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Wireframes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049"/>
                </a:solidFill>
                <a:latin typeface="Calibri" panose="020F0502020204030204"/>
              </a:rPr>
              <a:t>Low-Fidelity Wireframes —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Screens 1–3: Landing, Login and 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8" y="1051560"/>
            <a:ext cx="218724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Landing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3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773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378" y="1051560"/>
            <a:ext cx="2187244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88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89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978" y="1051560"/>
            <a:ext cx="2187244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4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Sign 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049"/>
                </a:solidFill>
                <a:latin typeface="Calibri" panose="020F0502020204030204"/>
              </a:rPr>
              <a:t>Low-Fidelity Wireframes —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Screens 4–6: How It Works, Browse and Item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8" y="1051560"/>
            <a:ext cx="218724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How It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3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773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378" y="1051560"/>
            <a:ext cx="2187244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88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Browse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89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978" y="1051560"/>
            <a:ext cx="2187244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4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Item Detail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049"/>
                </a:solidFill>
                <a:latin typeface="Calibri" panose="020F0502020204030204"/>
              </a:rPr>
              <a:t>Low-Fidelity Wireframes —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Screens 7–9: Checkout, Post Listing and Create Sell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8" y="1051560"/>
            <a:ext cx="218724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3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773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378" y="1051560"/>
            <a:ext cx="2187244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88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Post Listing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3049"/>
                </a:solidFill>
                <a:latin typeface="Calibri" panose="020F0502020204030204"/>
              </a:rPr>
              <a:t>Low-Fidelity Wireframes — Listing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Screens 10–12: Create Rent, User and Admin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8" y="1051560"/>
            <a:ext cx="218724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Create Rent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A559AA65-205F-D363-62F5-315AE103E8A9}"/>
              </a:ext>
            </a:extLst>
          </p:cNvPr>
          <p:cNvSpPr/>
          <p:nvPr/>
        </p:nvSpPr>
        <p:spPr>
          <a:xfrm>
            <a:off x="4728058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62E2F-F29A-9591-A43C-E20DD133F92F}"/>
              </a:ext>
            </a:extLst>
          </p:cNvPr>
          <p:cNvSpPr/>
          <p:nvPr/>
        </p:nvSpPr>
        <p:spPr>
          <a:xfrm>
            <a:off x="4728058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8FA4F338-C94E-5D7C-1A75-09696A144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076" y="1051560"/>
            <a:ext cx="2187244" cy="4754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3B8F207-7089-0B37-6266-BCAE5FFF88E6}"/>
              </a:ext>
            </a:extLst>
          </p:cNvPr>
          <p:cNvSpPr txBox="1"/>
          <p:nvPr/>
        </p:nvSpPr>
        <p:spPr>
          <a:xfrm>
            <a:off x="4819498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Create Sell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049"/>
                </a:solidFill>
                <a:latin typeface="Calibri" panose="020F0502020204030204"/>
              </a:rPr>
              <a:t>Low-Fidelity Wireframes —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Screens 13–15: My Devices, Order Tracking and Transactions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8" y="1051560"/>
            <a:ext cx="218724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My Devices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3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773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378" y="1051560"/>
            <a:ext cx="2187244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88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Order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89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978" y="1051560"/>
            <a:ext cx="2187244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4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Transactions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3049"/>
                </a:solidFill>
                <a:latin typeface="Calibri" panose="020F0502020204030204"/>
              </a:rPr>
              <a:t>High</a:t>
            </a:r>
            <a:r>
              <a:rPr sz="2400" b="1" dirty="0">
                <a:solidFill>
                  <a:srgbClr val="003049"/>
                </a:solidFill>
                <a:latin typeface="Calibri" panose="020F0502020204030204"/>
              </a:rPr>
              <a:t>-Fidelity Wireframes —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Screens 16–18: Notifications, Inspection and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8" y="1051560"/>
            <a:ext cx="218724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89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78" y="1051560"/>
            <a:ext cx="2187244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4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Settings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 Identity . Design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Identity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Identity — Color Palette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60–30–10 rule: Off-White dominates · Navy supports · Orange accents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15568"/>
            <a:ext cx="7132320" cy="1417320"/>
          </a:xfrm>
          <a:prstGeom prst="rect">
            <a:avLst/>
          </a:prstGeom>
          <a:solidFill>
            <a:srgbClr val="F7F5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02920" y="2029968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#F7F5F0  ·  Soft Off-White  ·  Base Background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309992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dominant surface — used for all slide backgrounds, page backgrounds, large panels and light containers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743200"/>
            <a:ext cx="5349240" cy="1417320"/>
          </a:xfrm>
          <a:prstGeom prst="rect">
            <a:avLst/>
          </a:prstGeom>
          <a:solidFill>
            <a:srgbClr val="00304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2743200"/>
            <a:ext cx="5349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502920" y="3657600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#003049  ·  Deep Navy  ·  Structural Color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95020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bars, headers, card backgrounds, section dividers, footer areas, buttons in secondary context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743200"/>
            <a:ext cx="1645920" cy="1417320"/>
          </a:xfrm>
          <a:prstGeom prst="rect">
            <a:avLst/>
          </a:prstGeom>
          <a:solidFill>
            <a:srgbClr val="F77F0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27432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989320" y="365760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#F77F00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39502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CTAs &amp; highlights only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02920" y="6309360"/>
            <a:ext cx="11155680" cy="384048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58368" y="630936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 Orange (#F77F00) is NEVER used as a background for large areas. It appears ONLY on CTA buttons, key metrics, accent chips and important call-out elements — always in small doses.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Identity — Typography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Montserrat for headings · Cairo for body — premium, bilingual pairing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15568"/>
            <a:ext cx="5577840" cy="5394960"/>
          </a:xfrm>
          <a:prstGeom prst="rect">
            <a:avLst/>
          </a:prstGeom>
          <a:solidFill>
            <a:srgbClr val="00304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26187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MONTSERRAT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Heading Font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938528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 Bb Cc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ABCDEFGHIJKLMNOPQRSTUVWXYZ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291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abcdefghijklmnopqrstuvwxyz 0123456789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70332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— 40pt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4123944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H1 — Page Title, 28pt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4544568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H2 — Section, 22pt</a:t>
            </a:r>
            <a:endParaRPr lang="en-US" sz="1465" dirty="0"/>
          </a:p>
        </p:txBody>
      </p:sp>
      <p:sp>
        <p:nvSpPr>
          <p:cNvPr id="15" name="Text 12"/>
          <p:cNvSpPr/>
          <p:nvPr/>
        </p:nvSpPr>
        <p:spPr>
          <a:xfrm>
            <a:off x="685800" y="4965192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H3 — Card Title, 16pt</a:t>
            </a:r>
            <a:endParaRPr lang="en-US" sz="1065" dirty="0"/>
          </a:p>
        </p:txBody>
      </p:sp>
      <p:sp>
        <p:nvSpPr>
          <p:cNvPr id="16" name="Text 13"/>
          <p:cNvSpPr/>
          <p:nvPr/>
        </p:nvSpPr>
        <p:spPr>
          <a:xfrm>
            <a:off x="685800" y="587044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for: All headings, slide titles, navigation labels, stat numbers, CTA text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3640" y="1115568"/>
            <a:ext cx="5577840" cy="5394960"/>
          </a:xfrm>
          <a:prstGeom prst="rect">
            <a:avLst/>
          </a:prstGeom>
          <a:solidFill>
            <a:srgbClr val="F7F5F0"/>
          </a:solidFill>
          <a:ln w="635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46520" y="126187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CAIRO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162763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Font · Arabic &amp; Latin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46520" y="1938528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 أبت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6446520" y="292608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ABCDEFabcdef  0–9  ١٢٣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6520" y="3291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أ ب ت ث ج ح خ د ذ ر ز س ش ص ض ط ظ ع غ ف 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46520" y="370332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Default — 14pt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46520" y="4123944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Small — 12pt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46520" y="4544568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Caption — 10pt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46520" y="4965192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Labels — 9pt ALL CAPS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46520" y="587044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for: Paragraph text, descriptions, captions, form labels, all Arabic-language content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Identity — Logo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meaning behind the ReOwned mark — circularity, renewal and trust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pic>
        <p:nvPicPr>
          <p:cNvPr id="6" name="Image 1" descr="/mnt/user-data/uploads/designarena_image_50a47a9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1115568"/>
            <a:ext cx="5029200" cy="5029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0" y="1115568"/>
            <a:ext cx="6217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0" y="1115568"/>
            <a:ext cx="45720" cy="98755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897880" y="120700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Circular Arrow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897880" y="1517904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orange arc with an arrowhead represents the circular economy — items moving from one owner to the next in a continuous loop. Every transaction gives something new life.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715000" y="2194560"/>
            <a:ext cx="6217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15000" y="2194560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97880" y="228600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Lowercase 'r'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897880" y="2596896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Nestled inside the circular arc, the soft lowercase 'r' stands for ReOwned. Its rounded form signals approachability and trust — a community platform, not a cold corporation.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0" y="3273552"/>
            <a:ext cx="6217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15000" y="3273552"/>
            <a:ext cx="45720" cy="98755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897880" y="3364992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Navy Background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97880" y="3675888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deep navy (#003049) communicates authority and security — this is a platform you can trust with high-value items, verified identities and secure transactions.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15000" y="4352544"/>
            <a:ext cx="6217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715000" y="4352544"/>
            <a:ext cx="45720" cy="987552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897880" y="444398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Orange Accent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897880" y="4754880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vibrant orange (#F77F00) injects energy and warmth — signalling the excitement of finding (or selling) a great pre-owned item. Used sparingly to maintain impact.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715000" y="5431536"/>
            <a:ext cx="6217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715000" y="5431536"/>
            <a:ext cx="45720" cy="98755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897880" y="552297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Wordmark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897880" y="5833872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'ReOwned' set in a clean humanist sans-serif. The capital 'R' and lowercase 'e' create a deliberate visual break — emphasising RE as a prefix of renewal and second life.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High-Fidelity Mobile Screens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Design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049"/>
                </a:solidFill>
                <a:latin typeface="Calibri" panose="020F0502020204030204"/>
              </a:rPr>
              <a:t>High-Fidelity UI — Discovery &amp; Browsing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Landing, Browse, and Item Detail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8" y="1051560"/>
            <a:ext cx="218724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Landing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3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773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83378" y="1051560"/>
            <a:ext cx="1625243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88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Browse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89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422984" y="1051560"/>
            <a:ext cx="1169232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4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Item Detail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049"/>
                </a:solidFill>
                <a:latin typeface="Calibri" panose="020F0502020204030204"/>
              </a:rPr>
              <a:t>High-Fidelity UI — Transactions &amp; Listing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Checkout, Create Sell, and Create Rent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61683" y="1051560"/>
            <a:ext cx="164543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3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773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98963" y="1051560"/>
            <a:ext cx="2194074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88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Create Sell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89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52387" y="1051560"/>
            <a:ext cx="2710426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4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Create Rent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049"/>
                </a:solidFill>
                <a:latin typeface="Calibri" panose="020F0502020204030204"/>
              </a:rPr>
              <a:t>High-Fidelity UI — Management &amp;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 panose="020F0502020204030204"/>
              </a:rPr>
              <a:t>Dashboard, My Devices, and Transactions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68424" y="1051560"/>
            <a:ext cx="1031952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345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03049"/>
                </a:solidFill>
                <a:latin typeface="Calibri" panose="020F0502020204030204"/>
              </a:rPr>
              <a:t>setting</a:t>
            </a:r>
            <a:endParaRPr sz="1000" b="1" dirty="0">
              <a:solidFill>
                <a:srgbClr val="003049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773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773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96465" y="1051560"/>
            <a:ext cx="239907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88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My Devices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960120"/>
            <a:ext cx="36372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8960" y="960120"/>
            <a:ext cx="363728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98195" y="1051560"/>
            <a:ext cx="2218810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400" y="5852160"/>
            <a:ext cx="345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49"/>
                </a:solidFill>
                <a:latin typeface="Calibri" panose="020F0502020204030204"/>
              </a:rPr>
              <a:t>Transactions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 &amp; Lessons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project taught us about designing for trust in emerging markets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43000"/>
            <a:ext cx="11155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143000"/>
            <a:ext cx="45720" cy="1280160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" y="127101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12710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61872" y="1271016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is the Product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61872" y="1691640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78% of users didn't fully trust existing platforms. The most important UX work on ReOwned wasn't the visual layer — it was the trust infrastructure: ID verification, inspection, escrow deposits and dispute resolution.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532888"/>
            <a:ext cx="11155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" y="2532888"/>
            <a:ext cx="45720" cy="128016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8368" y="26609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" y="26609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61872" y="2660904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for Real Behaviour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61872" y="3081528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 (Cash on Delivery) isn't a compromise — it's the preferred payment method for much of Egypt. Platforms that ignore local behaviour lose massive adoption. UX must follow real users, not idealized ones.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3922776"/>
            <a:ext cx="11155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3922776"/>
            <a:ext cx="45720" cy="1280160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8368" y="405079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8368" y="40507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61872" y="4050792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Mental Models, One Platform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61872" y="44714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Buyers, sellers, renters and owners have fundamentally different goals and fears. Serving all four requires careful IA to ensure each user type feels the platform was designed specifically for them.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2920" y="5312664"/>
            <a:ext cx="11155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02920" y="5312664"/>
            <a:ext cx="45720" cy="128016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8368" y="54406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8368" y="5440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61872" y="544068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Transparency Drives Conversion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61872" y="5861304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single most requested feature across qualitative interviews was honest, detailed condition reporting. Our grading system — with photos, written descriptions and sub-ratings — converts trust into purchase confidence.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ReOwned · 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20040" cy="54864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88720"/>
            <a:ext cx="3730752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911096" y="1371600"/>
            <a:ext cx="914400" cy="914400"/>
          </a:xfrm>
          <a:prstGeom prst="ellipse">
            <a:avLst/>
          </a:prstGeom>
          <a:solidFill>
            <a:srgbClr val="19445B"/>
          </a:solidFill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911096" y="13716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Omar Ashraf Ezzat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79806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45336" y="30723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16552" y="1188720"/>
            <a:ext cx="3730752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416552" y="1188720"/>
            <a:ext cx="45720" cy="226771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824728" y="1371600"/>
            <a:ext cx="914400" cy="914400"/>
          </a:xfrm>
          <a:prstGeom prst="ellipse">
            <a:avLst/>
          </a:prstGeom>
          <a:solidFill>
            <a:srgbClr val="003049">
              <a:alpha val="9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24728" y="13716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507992" y="2395728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Zeina Amr Nabil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07992" y="279806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330184" y="1188720"/>
            <a:ext cx="3730752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330184" y="1188720"/>
            <a:ext cx="45720" cy="226771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738360" y="1371600"/>
            <a:ext cx="914400" cy="914400"/>
          </a:xfrm>
          <a:prstGeom prst="ellipse">
            <a:avLst/>
          </a:prstGeom>
          <a:solidFill>
            <a:srgbClr val="003049">
              <a:alpha val="9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38360" y="13716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421624" y="2395728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Malak Tamer Abdelrazek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21624" y="279806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3611880"/>
            <a:ext cx="3730752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02920" y="3611880"/>
            <a:ext cx="45720" cy="226771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911096" y="3794760"/>
            <a:ext cx="914400" cy="914400"/>
          </a:xfrm>
          <a:prstGeom prst="ellipse">
            <a:avLst/>
          </a:prstGeom>
          <a:solidFill>
            <a:srgbClr val="003049">
              <a:alpha val="9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911096" y="37947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594360" y="4818888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Abadon Elwy Wadiaa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94360" y="522122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416552" y="3611880"/>
            <a:ext cx="3730752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416552" y="3611880"/>
            <a:ext cx="45720" cy="226771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824728" y="3794760"/>
            <a:ext cx="914400" cy="914400"/>
          </a:xfrm>
          <a:prstGeom prst="ellipse">
            <a:avLst/>
          </a:prstGeom>
          <a:solidFill>
            <a:srgbClr val="003049">
              <a:alpha val="9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824728" y="37947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4507992" y="4818888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Rania Emam Ebrahim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507992" y="522122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02920" y="6217920"/>
            <a:ext cx="11155680" cy="43891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02920" y="6217920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YAT730B_GIZ4_DRT2_S1_DEPI4 · Team 1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900" dirty="0"/>
          </a:p>
        </p:txBody>
      </p:sp>
      <p:sp>
        <p:nvSpPr>
          <p:cNvPr id="27" name="Shape 12"/>
          <p:cNvSpPr/>
          <p:nvPr/>
        </p:nvSpPr>
        <p:spPr>
          <a:xfrm>
            <a:off x="502920" y="1188720"/>
            <a:ext cx="45720" cy="2267712"/>
          </a:xfrm>
          <a:prstGeom prst="rect">
            <a:avLst/>
          </a:prstGeom>
          <a:solidFill>
            <a:srgbClr val="003049"/>
          </a:solid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High-Fidelity Mobile Screens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686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 TEST</a:t>
            </a:r>
            <a:endParaRPr lang="en-US" sz="5200" dirty="0"/>
          </a:p>
        </p:txBody>
      </p:sp>
      <p:pic>
        <p:nvPicPr>
          <p:cNvPr id="6" name="Image 0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64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4eff9b6-f8a3-4d21-ba3e-1c5fcb700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" y="728345"/>
            <a:ext cx="6197600" cy="62236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7795" y="982345"/>
            <a:ext cx="1835785" cy="20732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600" dirty="0">
                <a:solidFill>
                  <a:schemeClr val="accent2"/>
                </a:solidFill>
              </a:rPr>
              <a:t>The usability test evaluated key user journeys within </a:t>
            </a:r>
            <a:r>
              <a:rPr sz="1600" dirty="0" err="1">
                <a:solidFill>
                  <a:schemeClr val="accent2"/>
                </a:solidFill>
              </a:rPr>
              <a:t>ReOwned</a:t>
            </a:r>
            <a:r>
              <a:rPr sz="1600" dirty="0">
                <a:solidFill>
                  <a:schemeClr val="accent2"/>
                </a:solidFill>
              </a:rPr>
              <a:t>.</a:t>
            </a:r>
          </a:p>
          <a:p>
            <a:r>
              <a:rPr sz="1600" dirty="0"/>
              <a:t>• Overall success rate reached 98–99%.</a:t>
            </a:r>
          </a:p>
          <a:p>
            <a:r>
              <a:rPr sz="1600" dirty="0"/>
              <a:t>• Error rates remained below 2% across tasks.</a:t>
            </a:r>
          </a:p>
          <a:p>
            <a:r>
              <a:rPr sz="1600" dirty="0"/>
              <a:t>• Users completed tasks quickly and confidently.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91795" y="3371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2400" b="1" dirty="0">
                <a:solidFill>
                  <a:srgbClr val="003049"/>
                </a:solidFill>
                <a:latin typeface="Calibri" panose="020F0502020204030204"/>
                <a:sym typeface="+mn-ea"/>
              </a:rPr>
              <a:t>Usability Test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2156407" y="-15142"/>
            <a:ext cx="54864" cy="6858000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1" descr="/mnt/user-data/uploads/designarena_image_50a47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1664208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3"/>
          <p:cNvSpPr/>
          <p:nvPr/>
        </p:nvSpPr>
        <p:spPr>
          <a:xfrm>
            <a:off x="502920" y="2999232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02920" y="3566160"/>
            <a:ext cx="5943600" cy="36576"/>
          </a:xfrm>
          <a:prstGeom prst="rect">
            <a:avLst/>
          </a:prstGeom>
          <a:solidFill>
            <a:srgbClr val="F77F0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370332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ReOwned — Egypt's trusted circular marketplace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buying, selling and renting pre-owned items.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4681728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737360" y="468172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ReOwned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5065776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737360" y="5065776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YAT730B_GIZ4_DRT2_S1_DEPI4 · Team 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4498</Words>
  <Application>Microsoft Office PowerPoint</Application>
  <PresentationFormat>Widescreen</PresentationFormat>
  <Paragraphs>830</Paragraphs>
  <Slides>42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ReOwned — UX/UI Case Study 2024</dc:title>
  <dc:subject>PptxGenJS Presentation</dc:subject>
  <dc:creator>PptxGenJS</dc:creator>
  <cp:lastModifiedBy>200036952-Omar Ashraf Ezzat Ramadan</cp:lastModifiedBy>
  <cp:revision>11</cp:revision>
  <dcterms:created xsi:type="dcterms:W3CDTF">2026-06-10T12:30:00Z</dcterms:created>
  <dcterms:modified xsi:type="dcterms:W3CDTF">2026-06-26T08:03:37Z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2E8855D044CD4605AE561D47B1B025F9_12</vt:lpwstr>
  </property>
</Properties>
</file>